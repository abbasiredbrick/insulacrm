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90288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REAL ESTATE  ·  WHOLESALING  ·  AI-POWERED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Calibri"/>
              </a:rPr>
              <a:t>Keystone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The all-in-one CRM for property professionals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C7D2DE"/>
                </a:solidFill>
                <a:latin typeface="Calibri"/>
              </a:rPr>
              <a:t>Manage motivated-seller leads, deals, buyers, and dispositions — self-hosted on your own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737360" cy="3840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978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Self-hosted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5074920"/>
            <a:ext cx="1600200" cy="3840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5129784"/>
            <a:ext cx="1600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Multi-tenant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5074920"/>
            <a:ext cx="1965960" cy="3840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512978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40+ AI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5074920"/>
            <a:ext cx="2286000" cy="3840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5129784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Bring Your Own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5074920"/>
            <a:ext cx="2377440" cy="384048"/>
          </a:xfrm>
          <a:prstGeom prst="roundRect">
            <a:avLst/>
          </a:prstGeom>
          <a:solidFill>
            <a:srgbClr val="2E9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12978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GDPR &amp; TCPA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A5"/>
                </a:solidFill>
                <a:latin typeface="Calibri"/>
              </a:rPr>
              <a:t>Version 1.2.9 · Laravel 12 · Open-source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One platform. Two businesses.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40680" cy="44805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685800"/>
          </a:xfrm>
          <a:prstGeom prst="roundRect">
            <a:avLst/>
          </a:prstGeom>
          <a:solidFill>
            <a:srgbClr val="1B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WHOLESALING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8920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Pipeline: Prospecting → Dispositions → Assigned → Closing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Money field: assignment fee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Property tools: ARV / MAO worksheet, repair costs, distress markers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Modules: Disposition Room, buyer matching, list stacking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Roles: Acquisition Agent, Disposition Agent, Field Scout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440680" cy="44805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440680" cy="6858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904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REAL ESTATE / BROKERAGE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8920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Pipeline: Listing Agreement → Active Listing → Showing → Closing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Money field: commission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Property tools: list price, listing status, days on market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Modules: Listings, Showings, Open Houses, Leases, A2A contracts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>
                <a:solidFill>
                  <a:srgbClr val="1F2937"/>
                </a:solidFill>
                <a:latin typeface="Calibri"/>
              </a:rPr>
              <a:t>▪  Roles: Listing Agent, Buyers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Modules for the other mode are hidden, not missing — switch modes any time in Settings &gt; Business Mode.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2/19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Lead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Full CRUD with search, sort, and multi-field filtering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14 pipeline statuses and 11 lead sources, all customizable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Dual motivation scoring: system + independent AI score, side by side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Lead Kanban board with drag-and-drop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Quick actions: Call, Email, WhatsApp (auto-normalized number)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Lead photos with lightbox, captions, per-photo delete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CSV import with AI auto-mapping and duplicate handling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Bulk assign / status / delete; saved filter views; keyboard shortcuts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   –  Do Not Contact flag enforced across every outreach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Lead Kanban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04-leads-kanban.png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/leads/kanban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3/19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Deal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Accordion Kanban: stage rows show count, total value, and fees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Native drag-and-drop between expanded or collapsed stages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Due-diligence countdown with 48-hour urgency alerts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Inline quick-edit: contract price, earnest money, inspection, closing date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Per-deal documents, transaction checklist, and offer management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Automatic activity logging on every stage change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Stage-SLA warnings so nothing stalls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   –  Real estate mode: 11-stage pipeline from lead to closing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Deal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06-pipeline.png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4/19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MODULE · WHOLESALE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Disposition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Opens per deal from the deal detail page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Run all buyer outreach from one screen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Mass-outreach to multiple matched buyers in a single action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Auto deal ↔ buyer matching when deals reach Dispositions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Transparent match scoring: zip +30, type +25, price +20, state +15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Track per-buyer match status and next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Disposition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08-disposition-room.png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/disposition/{deal}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5/19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Properties &amp;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Property tracking tied to leads: type, beds, baths, sq ft, year built, lot, condition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Distress markers: tax delinquent, pre-foreclosure, probate, violations, vacant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Real-time financial calculator — ARV, repairs, MAO, assignment fee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Comparable sales (comps) with the ARV worksheet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Address-normalization for deduplication accuracy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Photo galleries with reorder and primary photo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Inventory / units board with portal-ready export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   –  Field Scout drive-by submission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inventory-show.png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6/19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Cash Buyers &amp; 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Full buyer database with company info and investment criteria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Reliability scoring that drops when buyers back out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Proof-of-funds (POF) verification with upload and re-score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Buyer transaction log — their actual track record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Automated deal–buyer matching with explainable scores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One-click notify a matched buyer per deal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CSV import/export and bulk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09-buyers.png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/buyers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7/19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Sequences, Workflows &amp;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Drip sequences: SMS, email, call, voicemail, direct mail with delays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Enrollment progress widget on every lead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Workflow engine: event triggers, step builder, delays, run logs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Pre-built workflow templates for common follow-up flows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Campaign tracker for marketing spend, attribution, and ROI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Email + document templates with merge fields and preview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Outbound webhooks with HMAC signing, retries, auto-disable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   –  Ready for Zapier, Make, and n8n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13-workflows.png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40+ AI Features, Bring Your Own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Providers: OpenAI, Claude, Gemini, Ollama, any OpenAI-compatible API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Draft follow-ups across all 7 activity types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AI lead scoring, hot/warm/cold auto-qualification, task suggestions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Deal analysis, stage advice, and offer strategy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Email / subject-line / property / portal description generation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CSV auto-mapping with preview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Weekly digest, pipeline health, DNC risk check, objection library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Briefings on every lead, deal, and buyer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   –  You pay nothing — tenants use their own API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AI Drafts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11-ai-drafts.png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/leads/{id} → AI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9/19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KPI dashboard with live ApexCharts and AJAX widgets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Pipeline bottleneck detection (days per stage with alerts)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Team leaderboard: leads contacted, offers made, deals closed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Lead-source ROI with per-source cost tracking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Conversion funnel: leads → contacted → offer → contract → closed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Conversion trend, lead-to-close velocity, top-agent comparison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Goal tracking with forecasting and AI recommendations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CSV exports and print-ready PDF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12-reports.png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10/19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OUTREACH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Communication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Global activity inbox with type, agent, date, entity filters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Color-coded calendar: tasks, meetings, calls — click to the lead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iCal feed + Google / Microsoft calendar sync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In-app notification bell with full history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Queued email notifications: assignments, stages, warnings, matches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DNC &amp; TCPA: system-wide stop lists, auto-blocking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Timezone-based contact restrictions (8 AM – 9 PM via ZIP)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GDPR export and anonymized deletion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10-calendar.png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11/19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CLIENT-FACING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Portals &amp; Property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Brandable public buyer portal with self-registration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Shared inventory links: clients verify, browse units, flag interest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Interest flags link the unit straight back to the lead record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Embeddable branded web form for lead capture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Listings pushed to Bayut, Dubizzle, and Property Finder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Inbound lead webhooks from property portals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   –  /p/{slug} and /s/{slug} capture prospects without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Buyer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buyer-portal.png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/p/{slug}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12/19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REAL ESTATE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Brokerage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Listings board and mandated-sales pipeline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Inventory / units with portal publishing workflow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Showings with feedback logged to the lead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Open houses with attendee capture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Lease management: create, renew, re-launch search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A2A commission-sharing contracts with external agents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Commission tracking and per-agent plans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CMA tool + portal-readiness checklist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listings.png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13/19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Roles &amp;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System roles: Admin, Acquisition, Disposition, Field Scout, Agent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Plus real-estate roles: Listing Agent, Buyers Agent, Cold Call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Custom roles with 33 granular permissions across 9 groups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Team page with manager assignment and hierarchy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Invite by email with welcome notification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Safe member deletion — records reassigned in one transaction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Impersonation for onboarding and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Settings /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14-settings.png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14/19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Security, Backups &amp;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Multi-tenant isolation — every company sees only its own data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Two-factor authentication (TOTP) with enforced 2FA option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Pluggable SSO framework (Google, Azure, Okta via plugins)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Full searchable audit log with before/after values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One-command database backups with scheduled cleanup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Safe updates: ZIP upload, staging, auto-backup, recovery snapshots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Local or S3-compatible cloud storage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System health check and factory-reset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System /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14-settings.png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/settings?tab=system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15/19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Integrations &amp;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REST API (v1) for leads, deals, buyers, properties, activities, stats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Per-tenant API keys with rate limiting and request logs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OpenAPI 3.0 spec + interactive docs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Outbound webhooks with HMAC signing and auto-retry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Plugin system: ZIP install, hooks, menus, widgets, settings tabs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SMS gateway abstraction for any provider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▪  Google &amp; Microsoft calendar + photo 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371600"/>
            <a:ext cx="4206240" cy="4572000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C7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5361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API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745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— screenshot goes here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212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2937"/>
                </a:solidFill>
                <a:latin typeface="Calibri"/>
              </a:rPr>
              <a:t>api-docs.png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4681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/api-docs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save in marketing/screenshots/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16/19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Built for Every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675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7 language packs: English, Dutch, German, French, Spanish, Portuguese, Italian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Add any language by dropping in a JSON file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Built-in language editor with search and progress tracking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38 currencies and 50 countries with per-tenant defaults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50+ timezones grouped by region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Imperial / metric units (sq ft ↔ m², acres ↔ hectares)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▪  Localized views, calculators, CSV exports, and AI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20640"/>
            <a:ext cx="11155680" cy="105156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852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6ABF"/>
                </a:solidFill>
                <a:latin typeface="Calibri"/>
              </a:rPr>
              <a:t>Also included: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1441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Calibri"/>
              </a:rPr>
              <a:t>Dark mode · PWA + offline · Mobile-responsive · Onboarding wizard · Whitelabel branding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17/19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5A623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017520" cy="475488"/>
          </a:xfrm>
          <a:prstGeom prst="roundRect">
            <a:avLst/>
          </a:prstGeom>
          <a:solidFill>
            <a:srgbClr val="1B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081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40817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Laravel 12 (PHP 8.2+)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20"/>
            <a:ext cx="3017520" cy="475488"/>
          </a:xfrm>
          <a:prstGeom prst="round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568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5681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Tabler Admin (Bootstrap 5) with dark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23160"/>
            <a:ext cx="3017520" cy="475488"/>
          </a:xfrm>
          <a:prstGeom prst="roundRect">
            <a:avLst/>
          </a:prstGeom>
          <a:solidFill>
            <a:srgbClr val="1B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05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0545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ApexCharts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71800"/>
            <a:ext cx="3017520" cy="475488"/>
          </a:xfrm>
          <a:prstGeom prst="round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5409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Kanban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5409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Native HTML5 drag &amp; drop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3017520" cy="475488"/>
          </a:xfrm>
          <a:prstGeom prst="roundRect">
            <a:avLst/>
          </a:prstGeom>
          <a:solidFill>
            <a:srgbClr val="1B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027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60273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MySQL 8.0+ / MariaDB 10.6+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3017520" cy="475488"/>
          </a:xfrm>
          <a:prstGeom prst="round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513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15137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OpenAI · Anthropic · Gemini · Ollama · OpenAI-compatible (BYOK)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3017520" cy="475488"/>
          </a:xfrm>
          <a:prstGeom prst="roundRect">
            <a:avLst/>
          </a:prstGeom>
          <a:solidFill>
            <a:srgbClr val="1B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00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70001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Local or S3-compatible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66360"/>
            <a:ext cx="3017520" cy="475488"/>
          </a:xfrm>
          <a:prstGeom prst="round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486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524865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REST + per-tenant key auth, OpenAPI spec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15000"/>
            <a:ext cx="3017520" cy="475488"/>
          </a:xfrm>
          <a:prstGeom prst="roundRect">
            <a:avLst/>
          </a:prstGeom>
          <a:solidFill>
            <a:srgbClr val="1B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9729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79729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alibri"/>
              </a:rPr>
              <a:t>Self-hosted · Docker-ready · Web installer · Auto-updates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K E Y S T O N E  ·  18/19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v1.2.9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CONTACT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Keystone — ready to run your deals.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7D2DE"/>
                </a:solidFill>
                <a:latin typeface="Calibri"/>
              </a:rPr>
              <a:t>Self-hosted · multi-tenant · AI-powered · compliance-ready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3017520" cy="3840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2686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Try the demo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572000"/>
            <a:ext cx="2834640" cy="3840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626864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Self-host on your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572000"/>
            <a:ext cx="2651760" cy="384048"/>
          </a:xfrm>
          <a:prstGeom prst="roundRect">
            <a:avLst/>
          </a:prstGeom>
          <a:solidFill>
            <a:srgbClr val="2E9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62686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E1B2A"/>
                </a:solidFill>
                <a:latin typeface="Calibri"/>
              </a:rPr>
              <a:t>Open-source (MIT)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8A5"/>
                </a:solidFill>
                <a:latin typeface="Calibri"/>
              </a:rPr>
              <a:t>Load a full demo: php artisan db:seed  ·  login admin@demo.com / password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